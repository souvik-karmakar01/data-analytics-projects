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4630400" cy="8229600"/>
  <p:notesSz cx="8229600" cy="14630400"/>
  <p:embeddedFontLst>
    <p:embeddedFont>
      <p:font typeface="Arimo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Outfit Extra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11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65645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Risk Analytics in Banking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dashboards for data-driven lending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8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risk analytics to minimize losses while lending by analyzing customer profiles and repayment likelihood.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Power BI dashboards that evaluate applicant profiles to approve or reject loan applications based on risk assessment.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06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Structure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30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Multiple interlinked tables connected through primary and foreign keys: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1109"/>
            <a:ext cx="4196358" cy="1730454"/>
          </a:xfrm>
          <a:prstGeom prst="roundRect">
            <a:avLst>
              <a:gd name="adj" fmla="val 550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3955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582591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30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Banking Relationship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16962" y="3161109"/>
            <a:ext cx="4196358" cy="1730454"/>
          </a:xfrm>
          <a:prstGeom prst="roundRect">
            <a:avLst>
              <a:gd name="adj" fmla="val 550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3955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58259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30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Client-Banking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640133" y="3161109"/>
            <a:ext cx="4196358" cy="1730454"/>
          </a:xfrm>
          <a:prstGeom prst="roundRect">
            <a:avLst>
              <a:gd name="adj" fmla="val 550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874568" y="33955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582591"/>
            <a:ext cx="306110" cy="306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4568" y="430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Gender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93790" y="5118378"/>
            <a:ext cx="6407944" cy="1730454"/>
          </a:xfrm>
          <a:prstGeom prst="roundRect">
            <a:avLst>
              <a:gd name="adj" fmla="val 550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28224" y="53528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5390" y="5539859"/>
            <a:ext cx="306110" cy="3061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8224" y="6260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Investment Advisor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7428548" y="5118378"/>
            <a:ext cx="6407944" cy="1730454"/>
          </a:xfrm>
          <a:prstGeom prst="roundRect">
            <a:avLst>
              <a:gd name="adj" fmla="val 550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62982" y="53528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0148" y="5539859"/>
            <a:ext cx="306110" cy="3061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62982" y="6260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Period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29445"/>
            <a:ext cx="59657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Cleaning Process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Income Binning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 income bands: &lt;100K as Low, &lt;300K as Mid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Processing Fees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New column based on fee structure: High = 0.05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9226"/>
            <a:ext cx="6655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Calculated Functions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1633"/>
            <a:ext cx="4196358" cy="4208740"/>
          </a:xfrm>
          <a:prstGeom prst="roundRect">
            <a:avLst>
              <a:gd name="adj" fmla="val 2270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62211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74581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529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0197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Adds all numbers in a column. Returns decimal number.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051084" y="5000744"/>
            <a:ext cx="3681770" cy="1179433"/>
          </a:xfrm>
          <a:prstGeom prst="roundRect">
            <a:avLst>
              <a:gd name="adj" fmla="val 8077"/>
            </a:avLst>
          </a:prstGeom>
          <a:solidFill>
            <a:srgbClr val="EDEDED"/>
          </a:solidFill>
          <a:ln/>
        </p:spPr>
      </p:sp>
      <p:sp>
        <p:nvSpPr>
          <p:cNvPr id="9" name="Shape 7"/>
          <p:cNvSpPr/>
          <p:nvPr/>
        </p:nvSpPr>
        <p:spPr>
          <a:xfrm>
            <a:off x="1039773" y="5000744"/>
            <a:ext cx="3704392" cy="1179433"/>
          </a:xfrm>
          <a:prstGeom prst="roundRect">
            <a:avLst>
              <a:gd name="adj" fmla="val 2885"/>
            </a:avLst>
          </a:prstGeom>
          <a:solidFill>
            <a:srgbClr val="EDEDED"/>
          </a:solidFill>
          <a:ln/>
        </p:spPr>
      </p:sp>
      <p:sp>
        <p:nvSpPr>
          <p:cNvPr id="10" name="Text 8"/>
          <p:cNvSpPr/>
          <p:nvPr/>
        </p:nvSpPr>
        <p:spPr>
          <a:xfrm>
            <a:off x="1323261" y="5227558"/>
            <a:ext cx="31374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SUM('Clients - Banking'[Bank Deposits])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2591633"/>
            <a:ext cx="4196358" cy="4208740"/>
          </a:xfrm>
          <a:prstGeom prst="roundRect">
            <a:avLst>
              <a:gd name="adj" fmla="val 2270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7442" y="262211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sp>
        <p:nvSpPr>
          <p:cNvPr id="13" name="Text 11"/>
          <p:cNvSpPr/>
          <p:nvPr/>
        </p:nvSpPr>
        <p:spPr>
          <a:xfrm>
            <a:off x="7145060" y="274581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5474256" y="3529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SUMX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40197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Sum of expression evaluated for each row.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474256" y="5000744"/>
            <a:ext cx="3681770" cy="1542336"/>
          </a:xfrm>
          <a:prstGeom prst="roundRect">
            <a:avLst>
              <a:gd name="adj" fmla="val 6177"/>
            </a:avLst>
          </a:prstGeom>
          <a:solidFill>
            <a:srgbClr val="EDEDED"/>
          </a:solidFill>
          <a:ln/>
        </p:spPr>
      </p:sp>
      <p:sp>
        <p:nvSpPr>
          <p:cNvPr id="17" name="Shape 15"/>
          <p:cNvSpPr/>
          <p:nvPr/>
        </p:nvSpPr>
        <p:spPr>
          <a:xfrm>
            <a:off x="5462945" y="5000744"/>
            <a:ext cx="3704392" cy="1542336"/>
          </a:xfrm>
          <a:prstGeom prst="roundRect">
            <a:avLst>
              <a:gd name="adj" fmla="val 2206"/>
            </a:avLst>
          </a:prstGeom>
          <a:solidFill>
            <a:srgbClr val="ED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5746433" y="5227558"/>
            <a:ext cx="31374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SUMX('Clients - Banking', [Total Loan] * [Processing Fees])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2591633"/>
            <a:ext cx="4196358" cy="4208740"/>
          </a:xfrm>
          <a:prstGeom prst="roundRect">
            <a:avLst>
              <a:gd name="adj" fmla="val 2270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70613" y="262211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E9E6FA"/>
          </a:solidFill>
          <a:ln/>
        </p:spPr>
      </p:sp>
      <p:sp>
        <p:nvSpPr>
          <p:cNvPr id="21" name="Text 19"/>
          <p:cNvSpPr/>
          <p:nvPr/>
        </p:nvSpPr>
        <p:spPr>
          <a:xfrm>
            <a:off x="11568232" y="274581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7427" y="3529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SWITCH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97427" y="40197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Evaluates expression against values list.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9897427" y="5000744"/>
            <a:ext cx="3681770" cy="1179433"/>
          </a:xfrm>
          <a:prstGeom prst="roundRect">
            <a:avLst>
              <a:gd name="adj" fmla="val 8077"/>
            </a:avLst>
          </a:prstGeom>
          <a:solidFill>
            <a:srgbClr val="EDEDED"/>
          </a:solidFill>
          <a:ln/>
        </p:spPr>
      </p:sp>
      <p:sp>
        <p:nvSpPr>
          <p:cNvPr id="25" name="Shape 23"/>
          <p:cNvSpPr/>
          <p:nvPr/>
        </p:nvSpPr>
        <p:spPr>
          <a:xfrm>
            <a:off x="9886117" y="5000744"/>
            <a:ext cx="3704392" cy="1179433"/>
          </a:xfrm>
          <a:prstGeom prst="roundRect">
            <a:avLst>
              <a:gd name="adj" fmla="val 2885"/>
            </a:avLst>
          </a:prstGeom>
          <a:solidFill>
            <a:srgbClr val="EDEDED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9604" y="5227558"/>
            <a:ext cx="31374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SWITCH([Fee Structure], "High", 0.05, "Low", 0.02)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81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Metrics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9042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Total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442221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Total Loan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912638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Bank Loan + Business Lending + Credit Cards Balance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339042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442221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 Loan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491263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Amount to be repaid by client to bank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339042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Business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442221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Business Lending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491263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Loan amount given to small businesses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3017" y="681871"/>
            <a:ext cx="3682603" cy="460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Deposit Metrics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38218" y="2290763"/>
            <a:ext cx="1811774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</a:t>
            </a: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83" y="1370171"/>
            <a:ext cx="2209562" cy="2209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23454" y="3712131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 Deposit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33017" y="3999667"/>
            <a:ext cx="502229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Money put in the bank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980051" y="2290763"/>
            <a:ext cx="1811774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Savings</a:t>
            </a:r>
            <a:endParaRPr lang="en-US" sz="2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217" y="1370171"/>
            <a:ext cx="2209562" cy="22095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06" y="3712131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Savings Account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74850" y="3999667"/>
            <a:ext cx="502241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Interest-bearing deposit account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838218" y="5342573"/>
            <a:ext cx="1811774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Foreign</a:t>
            </a:r>
            <a:endParaRPr lang="en-US" sz="2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83" y="4421981"/>
            <a:ext cx="2209562" cy="2209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23454" y="6763941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Foreign Currency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233017" y="7051477"/>
            <a:ext cx="502229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Account in non-Indian currency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8980051" y="5342573"/>
            <a:ext cx="1811774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Checking</a:t>
            </a:r>
            <a:endParaRPr lang="en-US" sz="2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217" y="4421981"/>
            <a:ext cx="2209562" cy="22095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5406" y="6763941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Checking Account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374850" y="7051477"/>
            <a:ext cx="502241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transactional needs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2233017" y="7353300"/>
            <a:ext cx="101642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Deposit = Bank Deposit + Savings Account + Foreign Currency + Checking Accounts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254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Additional Metrics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08789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Total CC Amount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57831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Short-term financing source from bank credit cards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08789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Total Fees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57831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Charges for account setup and maintenance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408789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Engagement Length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57831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 engagement days with digital banking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886" y="548493"/>
            <a:ext cx="6801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Dashboard Visualizations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5623" y="4114800"/>
            <a:ext cx="4878359" cy="4878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112494-8DBE-D92C-D540-7F94396E7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281" y="1717568"/>
            <a:ext cx="10507184" cy="5857505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80297F82-A308-0E7D-E42B-21F42736948E}"/>
              </a:ext>
            </a:extLst>
          </p:cNvPr>
          <p:cNvSpPr/>
          <p:nvPr/>
        </p:nvSpPr>
        <p:spPr>
          <a:xfrm>
            <a:off x="801410" y="2241887"/>
            <a:ext cx="3682603" cy="460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endParaRPr lang="en-US" sz="285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F7914329-A39E-9433-7C57-43940F786468}"/>
              </a:ext>
            </a:extLst>
          </p:cNvPr>
          <p:cNvSpPr/>
          <p:nvPr/>
        </p:nvSpPr>
        <p:spPr>
          <a:xfrm>
            <a:off x="11207298" y="1257272"/>
            <a:ext cx="3682603" cy="460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Loan Analysis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009E3-A77B-1977-D246-0B095F82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43" y="1190192"/>
            <a:ext cx="11029950" cy="618172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210" y="4114800"/>
            <a:ext cx="4419075" cy="44190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326F1A6-0CEC-5913-EAFE-C519F05088B2}"/>
              </a:ext>
            </a:extLst>
          </p:cNvPr>
          <p:cNvSpPr/>
          <p:nvPr/>
        </p:nvSpPr>
        <p:spPr>
          <a:xfrm>
            <a:off x="556616" y="729896"/>
            <a:ext cx="3682603" cy="460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Deposit Analysis</a:t>
            </a:r>
            <a:endParaRPr lang="en-US" sz="2850" dirty="0"/>
          </a:p>
        </p:txBody>
      </p:sp>
    </p:spTree>
    <p:extLst>
      <p:ext uri="{BB962C8B-B14F-4D97-AF65-F5344CB8AC3E}">
        <p14:creationId xmlns:p14="http://schemas.microsoft.com/office/powerpoint/2010/main" val="2001451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854" y="-1790820"/>
            <a:ext cx="5363780" cy="5363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45B64E-821F-6101-0A85-7F455978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34" y="2286000"/>
            <a:ext cx="10421222" cy="573578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A60AC48-1529-215D-907A-2D794E23EFCF}"/>
              </a:ext>
            </a:extLst>
          </p:cNvPr>
          <p:cNvSpPr/>
          <p:nvPr/>
        </p:nvSpPr>
        <p:spPr>
          <a:xfrm>
            <a:off x="463098" y="1731027"/>
            <a:ext cx="3682603" cy="460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Summary</a:t>
            </a:r>
            <a:endParaRPr lang="en-US" sz="2850" dirty="0"/>
          </a:p>
        </p:txBody>
      </p:sp>
    </p:spTree>
    <p:extLst>
      <p:ext uri="{BB962C8B-B14F-4D97-AF65-F5344CB8AC3E}">
        <p14:creationId xmlns:p14="http://schemas.microsoft.com/office/powerpoint/2010/main" val="336134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Impact &amp; Future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32259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557111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Identify which banks have most clients (private banks lead) and which nationalities have highest loans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066693"/>
            <a:ext cx="28498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Competitive Strategy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55711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Help banks build strategies to increase client base based on market analysis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704403"/>
            <a:ext cx="3265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Comprehensive Tracking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 total loan amounts and various account types by investors in real-time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345</Words>
  <Application>Microsoft Office PowerPoint</Application>
  <PresentationFormat>Custom</PresentationFormat>
  <Paragraphs>84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Outfit Extra Bold</vt:lpstr>
      <vt:lpstr>Arial</vt:lpstr>
      <vt:lpstr>Consolas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Souvik Karmakar</cp:lastModifiedBy>
  <cp:revision>2</cp:revision>
  <dcterms:created xsi:type="dcterms:W3CDTF">2026-03-21T15:30:35Z</dcterms:created>
  <dcterms:modified xsi:type="dcterms:W3CDTF">2026-03-21T15:39:07Z</dcterms:modified>
</cp:coreProperties>
</file>